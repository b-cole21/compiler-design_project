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  <p:sldMasterId id="2147483789" r:id="rId2"/>
  </p:sld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8D38747-4367-4BD2-8D51-C97E202738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1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98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09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811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3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40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1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698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6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839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0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02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098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648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323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17E833E-1B6D-415F-AD29-75AE8C43BD0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538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52596F-08A7-4B70-989A-F2B1CF31E66B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61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73ED0CC-082F-4160-86E5-0D6041F1277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84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510" y="960505"/>
            <a:ext cx="9264149" cy="788150"/>
          </a:xfrm>
        </p:spPr>
        <p:txBody>
          <a:bodyPr>
            <a:normAutofit/>
            <a:scene3d>
              <a:camera prst="perspectiveAbove"/>
              <a:lightRig rig="threePt" dir="t"/>
            </a:scene3d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is lexical analysis separated from parsing</a:t>
            </a:r>
            <a:r>
              <a:rPr lang="en-US" sz="4000" b="1" dirty="0">
                <a:solidFill>
                  <a:schemeClr val="tx1"/>
                </a:solidFill>
                <a:effectLst/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4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64373"/>
            <a:ext cx="3483529" cy="59361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Biruk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385909"/>
            <a:ext cx="10166350" cy="2457960"/>
          </a:xfrm>
        </p:spPr>
        <p:txBody>
          <a:bodyPr>
            <a:normAutofit/>
          </a:bodyPr>
          <a:lstStyle/>
          <a:p>
            <a:pPr marL="0"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</a:p>
          <a:p>
            <a:pPr marL="0"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• a program that translates 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• a program written in a high-level programming language (suitable for 				human programmers) into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• low-level machine language (that is required by computers).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F4A67-E0EF-F36F-38A8-0D3EB04B2ACF}"/>
              </a:ext>
            </a:extLst>
          </p:cNvPr>
          <p:cNvSpPr/>
          <p:nvPr/>
        </p:nvSpPr>
        <p:spPr>
          <a:xfrm>
            <a:off x="1587500" y="4533901"/>
            <a:ext cx="1816100" cy="71259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program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28323-56A4-6D3F-CB21-2B0516DF6700}"/>
              </a:ext>
            </a:extLst>
          </p:cNvPr>
          <p:cNvSpPr/>
          <p:nvPr/>
        </p:nvSpPr>
        <p:spPr>
          <a:xfrm>
            <a:off x="7880352" y="4533901"/>
            <a:ext cx="1816100" cy="71259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program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E8A7A5-143C-DE6C-4F06-9C1B415DA890}"/>
              </a:ext>
            </a:extLst>
          </p:cNvPr>
          <p:cNvSpPr/>
          <p:nvPr/>
        </p:nvSpPr>
        <p:spPr>
          <a:xfrm>
            <a:off x="4733926" y="4456044"/>
            <a:ext cx="1816100" cy="868308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EB6C66-8830-F564-8220-FE217DF7F82A}"/>
              </a:ext>
            </a:extLst>
          </p:cNvPr>
          <p:cNvCxnSpPr>
            <a:stCxn id="6" idx="3"/>
            <a:endCxn id="8" idx="2"/>
          </p:cNvCxnSpPr>
          <p:nvPr/>
        </p:nvCxnSpPr>
        <p:spPr>
          <a:xfrm>
            <a:off x="3403600" y="4890198"/>
            <a:ext cx="1330326" cy="0"/>
          </a:xfrm>
          <a:prstGeom prst="straightConnector1">
            <a:avLst/>
          </a:prstGeom>
          <a:ln w="476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A4249E-5A66-330C-F8A5-24BD77CAF566}"/>
              </a:ext>
            </a:extLst>
          </p:cNvPr>
          <p:cNvCxnSpPr/>
          <p:nvPr/>
        </p:nvCxnSpPr>
        <p:spPr>
          <a:xfrm>
            <a:off x="6550026" y="4890896"/>
            <a:ext cx="1330326" cy="0"/>
          </a:xfrm>
          <a:prstGeom prst="straightConnector1">
            <a:avLst/>
          </a:prstGeom>
          <a:ln w="476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119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4" y="1485900"/>
            <a:ext cx="11376025" cy="2781300"/>
          </a:xfrm>
          <a:ln w="15875">
            <a:noFill/>
          </a:ln>
        </p:spPr>
        <p:txBody>
          <a:bodyPr>
            <a:normAutofit/>
          </a:bodyPr>
          <a:lstStyle/>
          <a:p>
            <a:pPr marL="342900" indent="-342900"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is not a single box that maps a source program into a target program.</a:t>
            </a:r>
          </a:p>
          <a:p>
            <a:pPr marL="0"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parts to this mapping: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synthesis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4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(front part) 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lexical, syntax, and semantic analysis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800100" lvl="1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(Back part)[ /Parts of compilation Code Generation + Code Optimization 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9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99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074" y="1371599"/>
            <a:ext cx="11198225" cy="3874895"/>
          </a:xfrm>
          <a:ln>
            <a:noFill/>
          </a:ln>
        </p:spPr>
        <p:txBody>
          <a:bodyPr>
            <a:normAutofit/>
          </a:bodyPr>
          <a:lstStyle/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32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8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phase of a compiler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plays a critical role in the process of translating a high-level programming language into machine-executable code. </a:t>
            </a:r>
          </a:p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</a:t>
            </a:r>
            <a:r>
              <a:rPr lang="en-US" sz="2800" dirty="0">
                <a:solidFill>
                  <a:schemeClr val="bg1"/>
                </a:solidFill>
              </a:rPr>
              <a:t>,</a:t>
            </a:r>
          </a:p>
          <a:p>
            <a:pPr marL="1257300" lvl="2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characters from the source program.</a:t>
            </a:r>
          </a:p>
          <a:p>
            <a:pPr marL="1257300" lvl="2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the characters into lexemes (meaningful sequences of characters)</a:t>
            </a:r>
          </a:p>
          <a:p>
            <a:pPr marL="1257300" lvl="2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lexeme corresponds to a token;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42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346201"/>
            <a:ext cx="4953000" cy="3441699"/>
          </a:xfrm>
          <a:ln>
            <a:noFill/>
          </a:ln>
        </p:spPr>
        <p:txBody>
          <a:bodyPr>
            <a:normAutofit/>
          </a:bodyPr>
          <a:lstStyle/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2" algn="l"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</a:t>
            </a:r>
          </a:p>
          <a:p>
            <a:pPr lvl="2" algn="l"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 = a + </a:t>
            </a:r>
            <a:r>
              <a:rPr lang="en-US" sz="28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2400" cap="none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785AB2-296B-AD87-8A79-61103718EB28}"/>
              </a:ext>
            </a:extLst>
          </p:cNvPr>
          <p:cNvSpPr txBox="1">
            <a:spLocks/>
          </p:cNvSpPr>
          <p:nvPr/>
        </p:nvSpPr>
        <p:spPr bwMode="gray">
          <a:xfrm>
            <a:off x="5810956" y="1346201"/>
            <a:ext cx="6000043" cy="344169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generated by the lexical analyzer: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ASSIGN_OP: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PLUS_OP: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SEMICOLON: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(;)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AA839ED-EA79-75AB-C2FE-E2F8960442A8}"/>
              </a:ext>
            </a:extLst>
          </p:cNvPr>
          <p:cNvSpPr txBox="1">
            <a:spLocks/>
          </p:cNvSpPr>
          <p:nvPr/>
        </p:nvSpPr>
        <p:spPr bwMode="gray">
          <a:xfrm>
            <a:off x="488243" y="5002842"/>
            <a:ext cx="11170358" cy="100425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process, the lexical analyzer also </a:t>
            </a:r>
            <a:r>
              <a:rPr lang="en-US" sz="24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whitespace and comments</a:t>
            </a: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reports </a:t>
            </a:r>
            <a:r>
              <a:rPr lang="en-US" sz="24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errors</a:t>
            </a: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if any, before passing the tokens to the syntax analyzer.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91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075" y="1371599"/>
            <a:ext cx="11083926" cy="5006144"/>
          </a:xfrm>
          <a:ln>
            <a:noFill/>
          </a:ln>
        </p:spPr>
        <p:txBody>
          <a:bodyPr>
            <a:normAutofit/>
          </a:bodyPr>
          <a:lstStyle/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 phase</a:t>
            </a:r>
            <a:r>
              <a:rPr lang="en-US" sz="28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analysis)</a:t>
            </a:r>
            <a:r>
              <a:rPr lang="en-US" sz="28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the sequence of </a:t>
            </a:r>
            <a:r>
              <a:rPr lang="en-US" sz="28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produced by lexical analysis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checks whether they follow the </a:t>
            </a:r>
            <a:r>
              <a:rPr lang="en-US" sz="28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rules</a:t>
            </a:r>
            <a:r>
              <a:rPr lang="en-US" sz="2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programming language.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3000" cap="none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parsing: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parser verifies that the token sequence matches the grammar rule.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structure is correct, a </a:t>
            </a:r>
            <a:r>
              <a:rPr lang="en-US" sz="3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generated.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not, a </a:t>
            </a:r>
            <a:r>
              <a:rPr lang="en-US" sz="3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error</a:t>
            </a: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reported (</a:t>
            </a:r>
            <a:r>
              <a:rPr lang="en-US" sz="30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3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Missing semicolon).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978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7"/>
            <a:ext cx="3021189" cy="651002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346201"/>
            <a:ext cx="5003800" cy="3949699"/>
          </a:xfrm>
          <a:ln>
            <a:noFill/>
          </a:ln>
        </p:spPr>
        <p:txBody>
          <a:bodyPr>
            <a:normAutofit/>
          </a:bodyPr>
          <a:lstStyle/>
          <a:p>
            <a:pPr lvl="2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2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 from lexical analyzer: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ASSIGN_OP: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PLUS_OP: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pPr lvl="3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18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SEMICOLON:</a:t>
            </a:r>
            <a:r>
              <a:rPr lang="en-US" sz="18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(;)</a:t>
            </a:r>
          </a:p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2400" cap="none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785AB2-296B-AD87-8A79-61103718EB28}"/>
              </a:ext>
            </a:extLst>
          </p:cNvPr>
          <p:cNvSpPr txBox="1">
            <a:spLocks/>
          </p:cNvSpPr>
          <p:nvPr/>
        </p:nvSpPr>
        <p:spPr bwMode="gray">
          <a:xfrm>
            <a:off x="5810956" y="1346201"/>
            <a:ext cx="5870223" cy="41655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Grammer rule(simplified)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type 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</a:t>
            </a: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en-US" sz="20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AA839ED-EA79-75AB-C2FE-E2F8960442A8}"/>
              </a:ext>
            </a:extLst>
          </p:cNvPr>
          <p:cNvSpPr txBox="1">
            <a:spLocks/>
          </p:cNvSpPr>
          <p:nvPr/>
        </p:nvSpPr>
        <p:spPr bwMode="gray">
          <a:xfrm>
            <a:off x="510821" y="5181601"/>
            <a:ext cx="11170358" cy="10922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parsing phase ensures that the program is structurally correct before further compilation stages proceed.</a:t>
            </a:r>
          </a:p>
        </p:txBody>
      </p:sp>
    </p:spTree>
    <p:extLst>
      <p:ext uri="{BB962C8B-B14F-4D97-AF65-F5344CB8AC3E}">
        <p14:creationId xmlns:p14="http://schemas.microsoft.com/office/powerpoint/2010/main" val="382414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 between lexical and Syntax analysis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075" y="1371599"/>
            <a:ext cx="11083926" cy="5006144"/>
          </a:xfrm>
          <a:ln>
            <a:noFill/>
          </a:ln>
        </p:spPr>
        <p:txBody>
          <a:bodyPr>
            <a:normAutofit/>
          </a:bodyPr>
          <a:lstStyle/>
          <a:p>
            <a:pPr algn="l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3F6855-8D69-468B-EEF7-B32C217F0E8E}"/>
              </a:ext>
            </a:extLst>
          </p:cNvPr>
          <p:cNvSpPr/>
          <p:nvPr/>
        </p:nvSpPr>
        <p:spPr>
          <a:xfrm>
            <a:off x="708304" y="3175205"/>
            <a:ext cx="1841500" cy="814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Source Program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9905-D0AF-372A-51F8-7FCE6E7EE707}"/>
              </a:ext>
            </a:extLst>
          </p:cNvPr>
          <p:cNvSpPr/>
          <p:nvPr/>
        </p:nvSpPr>
        <p:spPr>
          <a:xfrm>
            <a:off x="3674290" y="3214058"/>
            <a:ext cx="1841500" cy="814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</a:t>
            </a:r>
          </a:p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(Scanner)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2D337-6094-5B3E-0D17-D561B0F35352}"/>
              </a:ext>
            </a:extLst>
          </p:cNvPr>
          <p:cNvSpPr/>
          <p:nvPr/>
        </p:nvSpPr>
        <p:spPr>
          <a:xfrm>
            <a:off x="9069212" y="1664432"/>
            <a:ext cx="1841500" cy="814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</a:p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(syntax Tree)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71E8F-FF0F-8B40-6542-EF4596ADAD25}"/>
              </a:ext>
            </a:extLst>
          </p:cNvPr>
          <p:cNvSpPr/>
          <p:nvPr/>
        </p:nvSpPr>
        <p:spPr>
          <a:xfrm>
            <a:off x="6640275" y="3270248"/>
            <a:ext cx="1949729" cy="8146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</a:p>
          <a:p>
            <a:pPr algn="ctr"/>
            <a:r>
              <a:rPr lang="en-US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(Syntax Analyzer)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7B1E06-ECD1-B2AD-765B-AC07B3AEEF89}"/>
              </a:ext>
            </a:extLst>
          </p:cNvPr>
          <p:cNvCxnSpPr/>
          <p:nvPr/>
        </p:nvCxnSpPr>
        <p:spPr>
          <a:xfrm>
            <a:off x="2577010" y="3621398"/>
            <a:ext cx="109728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EE3A89-AA17-DF52-2EB8-FAC42099AAE3}"/>
              </a:ext>
            </a:extLst>
          </p:cNvPr>
          <p:cNvSpPr txBox="1"/>
          <p:nvPr/>
        </p:nvSpPr>
        <p:spPr>
          <a:xfrm flipH="1">
            <a:off x="2658032" y="3364787"/>
            <a:ext cx="851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9F0B71-7764-A0A1-3A16-FDEA79BD8571}"/>
              </a:ext>
            </a:extLst>
          </p:cNvPr>
          <p:cNvCxnSpPr>
            <a:cxnSpLocks/>
          </p:cNvCxnSpPr>
          <p:nvPr/>
        </p:nvCxnSpPr>
        <p:spPr>
          <a:xfrm>
            <a:off x="7615139" y="4113501"/>
            <a:ext cx="1188720" cy="9144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153F6B-7CE1-0ACA-4D78-DB5A0C0F9B87}"/>
              </a:ext>
            </a:extLst>
          </p:cNvPr>
          <p:cNvSpPr txBox="1"/>
          <p:nvPr/>
        </p:nvSpPr>
        <p:spPr>
          <a:xfrm flipH="1">
            <a:off x="8209499" y="4955644"/>
            <a:ext cx="1431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errors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B1785F-144A-9EAC-E089-D49B1F939600}"/>
              </a:ext>
            </a:extLst>
          </p:cNvPr>
          <p:cNvSpPr txBox="1"/>
          <p:nvPr/>
        </p:nvSpPr>
        <p:spPr>
          <a:xfrm flipH="1">
            <a:off x="5670300" y="3351059"/>
            <a:ext cx="851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DA032C-40D5-72F5-7FED-408766BA8CC6}"/>
              </a:ext>
            </a:extLst>
          </p:cNvPr>
          <p:cNvCxnSpPr/>
          <p:nvPr/>
        </p:nvCxnSpPr>
        <p:spPr>
          <a:xfrm>
            <a:off x="5542997" y="3684644"/>
            <a:ext cx="109728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6E3A5D-54D6-9944-7FA4-CDCA3A5FF7F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615139" y="2071772"/>
            <a:ext cx="1454073" cy="11699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43EAE7-9EEE-1F0D-E531-24EB26CB36E5}"/>
              </a:ext>
            </a:extLst>
          </p:cNvPr>
          <p:cNvCxnSpPr>
            <a:cxnSpLocks/>
          </p:cNvCxnSpPr>
          <p:nvPr/>
        </p:nvCxnSpPr>
        <p:spPr>
          <a:xfrm>
            <a:off x="4374295" y="4040027"/>
            <a:ext cx="1188720" cy="9144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6279127-FBBB-A78D-AF03-50FDB6CEADF7}"/>
              </a:ext>
            </a:extLst>
          </p:cNvPr>
          <p:cNvSpPr txBox="1"/>
          <p:nvPr/>
        </p:nvSpPr>
        <p:spPr>
          <a:xfrm flipH="1">
            <a:off x="4954494" y="4916390"/>
            <a:ext cx="1431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errors</a:t>
            </a:r>
          </a:p>
        </p:txBody>
      </p:sp>
    </p:spTree>
    <p:extLst>
      <p:ext uri="{BB962C8B-B14F-4D97-AF65-F5344CB8AC3E}">
        <p14:creationId xmlns:p14="http://schemas.microsoft.com/office/powerpoint/2010/main" val="1764535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lexical and Syntax analysis Separate !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609600" y="2043009"/>
            <a:ext cx="109728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Different Responsibilities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handles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groups them into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(identifiers, 	keywords, literals, operators).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handles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checks whether they follow 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of the 	Language.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19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lexical and Syntax analysis Separate !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628650" y="1414463"/>
            <a:ext cx="109728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Simpler and Cleaner Grammar</a:t>
            </a:r>
          </a:p>
          <a:p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parsing were done directly on characters: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rules would become extremely complex.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identifiers, numbers, and keywords inside grammar would be	impractical.</a:t>
            </a:r>
          </a:p>
          <a:p>
            <a:pPr lvl="1"/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separating lexical analysis: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parser works with </a:t>
            </a: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raw characters.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becomes smaller, cleaner, and easier to maintain.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4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lexical and Syntax analysis Separate !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628650" y="1414462"/>
            <a:ext cx="10902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Improved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analyzers are implemented using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are 	fast and efficient.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Parsers use more complex algorithms (LL, LR) that perform better on 	token streams.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 division improves overall compiler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48982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lexical and Syntax analysis Separate !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628650" y="1414462"/>
            <a:ext cx="1139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Early and Clear Error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detects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errors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(invalid symbols, malformed 	tokens).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Parsing detects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errors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(incorrect statement structure).</a:t>
            </a:r>
          </a:p>
          <a:p>
            <a:pPr lvl="1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allows precise error reporting and easier debugging.</a:t>
            </a:r>
          </a:p>
        </p:txBody>
      </p:sp>
    </p:spTree>
    <p:extLst>
      <p:ext uri="{BB962C8B-B14F-4D97-AF65-F5344CB8AC3E}">
        <p14:creationId xmlns:p14="http://schemas.microsoft.com/office/powerpoint/2010/main" val="2640997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43" y="480256"/>
            <a:ext cx="9877779" cy="794323"/>
          </a:xfrm>
          <a:noFill/>
          <a:ln>
            <a:noFill/>
          </a:ln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4000" b="1" dirty="0">
                <a:solidFill>
                  <a:srgbClr val="FFFF00"/>
                </a:solidFill>
                <a:latin typeface="Nyala" panose="020005040703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Why lexical and Syntax analysis Separate !</a:t>
            </a:r>
            <a:endParaRPr lang="en-US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628650" y="1414462"/>
            <a:ext cx="113982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Modularity and Maintainability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to keywords or token rules usually affect only the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changes affect only the parser.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modular approach makes compilers easier to update, test, and extend.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Handling Whitespace and Comments</a:t>
            </a:r>
          </a:p>
          <a:p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Portability 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81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F44F8B-DF37-519B-8826-D403124CFA2B}"/>
              </a:ext>
            </a:extLst>
          </p:cNvPr>
          <p:cNvSpPr txBox="1">
            <a:spLocks/>
          </p:cNvSpPr>
          <p:nvPr/>
        </p:nvSpPr>
        <p:spPr>
          <a:xfrm>
            <a:off x="259643" y="1611506"/>
            <a:ext cx="9877779" cy="14026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7500"/>
            <a:scene3d>
              <a:camera prst="perspectiveAbove"/>
              <a:lightRig rig="threePt" dir="t"/>
            </a:scene3d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lang="en-US" sz="320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33DB-9019-D741-2124-6C1875B558B7}"/>
              </a:ext>
            </a:extLst>
          </p:cNvPr>
          <p:cNvSpPr txBox="1"/>
          <p:nvPr/>
        </p:nvSpPr>
        <p:spPr>
          <a:xfrm>
            <a:off x="2368903" y="2520429"/>
            <a:ext cx="8572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n w="9525">
                  <a:solidFill>
                    <a:srgbClr val="00B0F0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56321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ppt/theme/theme2.xml><?xml version="1.0" encoding="utf-8"?>
<a:theme xmlns:a="http://schemas.openxmlformats.org/drawingml/2006/main" name="Theme1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ABFDAC9-912A-4C42-9ACC-40E51A66C2FE}" vid="{577CF9F7-3A44-412F-ACCB-BF4D5BE6C0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325</TotalTime>
  <Words>685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Century Gothic</vt:lpstr>
      <vt:lpstr>Goudy Old Style</vt:lpstr>
      <vt:lpstr>Nyala</vt:lpstr>
      <vt:lpstr>Times New Roman</vt:lpstr>
      <vt:lpstr>Wingdings</vt:lpstr>
      <vt:lpstr>Wingdings 2</vt:lpstr>
      <vt:lpstr>Wingdings 3</vt:lpstr>
      <vt:lpstr>SlateVTI</vt:lpstr>
      <vt:lpstr>Theme1</vt:lpstr>
      <vt:lpstr>Why is lexical analysis separated from parsing?</vt:lpstr>
      <vt:lpstr>Introduction</vt:lpstr>
      <vt:lpstr>Introduction</vt:lpstr>
      <vt:lpstr>Introduction</vt:lpstr>
      <vt:lpstr>Introduction</vt:lpstr>
      <vt:lpstr>Introduction</vt:lpstr>
      <vt:lpstr>Introduction</vt:lpstr>
      <vt:lpstr>Relationship between lexical and Syntax analysis</vt:lpstr>
      <vt:lpstr>Why lexical and Syntax analysis Separate !</vt:lpstr>
      <vt:lpstr>Why lexical and Syntax analysis Separate !</vt:lpstr>
      <vt:lpstr>Why lexical and Syntax analysis Separate !</vt:lpstr>
      <vt:lpstr>Why lexical and Syntax analysis Separate !</vt:lpstr>
      <vt:lpstr>Why lexical and Syntax analysis Separate 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biruk yihun</dc:creator>
  <cp:lastModifiedBy>biruk yihun</cp:lastModifiedBy>
  <cp:revision>7</cp:revision>
  <dcterms:created xsi:type="dcterms:W3CDTF">2026-01-17T18:22:14Z</dcterms:created>
  <dcterms:modified xsi:type="dcterms:W3CDTF">2026-01-19T15:42:46Z</dcterms:modified>
</cp:coreProperties>
</file>