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5" r:id="rId1"/>
  </p:sldMasterIdLst>
  <p:sldIdLst>
    <p:sldId id="259" r:id="rId2"/>
    <p:sldId id="260" r:id="rId3"/>
    <p:sldId id="261" r:id="rId4"/>
    <p:sldId id="262" r:id="rId5"/>
    <p:sldId id="263" r:id="rId6"/>
    <p:sldId id="265" r:id="rId7"/>
    <p:sldId id="264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A147"/>
    <a:srgbClr val="B54C2D"/>
    <a:srgbClr val="B66952"/>
    <a:srgbClr val="B56D45"/>
    <a:srgbClr val="DF98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1" autoAdjust="0"/>
    <p:restoredTop sz="94660"/>
  </p:normalViewPr>
  <p:slideViewPr>
    <p:cSldViewPr snapToGrid="0">
      <p:cViewPr varScale="1">
        <p:scale>
          <a:sx n="85" d="100"/>
          <a:sy n="85" d="100"/>
        </p:scale>
        <p:origin x="96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1/23/2026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2525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1/23/2026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5865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1/23/2026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6486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1/23/2026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175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Picture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1/23/2026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8887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1/23/2026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48886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1/23/2026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5916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1/23/2026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6479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1/23/2026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6378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B079-7EF0-44EE-B798-BCC497C9F3B2}" type="datetime1">
              <a:rPr lang="en-US" smtClean="0"/>
              <a:t>1/23/2026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4665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F70A8-1D13-4657-95F0-A9EA54967B8D}" type="datetime1">
              <a:rPr lang="en-US" smtClean="0"/>
              <a:t>1/23/2026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12055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B90AC-71BD-4C7F-8ACA-7B3F18292E63}" type="datetime1">
              <a:rPr lang="en-US" smtClean="0"/>
              <a:t>1/23/2026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805943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EFC2C-8905-46F0-B443-CE905B76BA01}" type="datetime1">
              <a:rPr lang="en-US" smtClean="0"/>
              <a:t>1/23/2026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88362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79DC3-C9B5-499E-9140-0DC28B7074E2}" type="datetime1">
              <a:rPr lang="en-US" smtClean="0"/>
              <a:t>1/23/2026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74069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33EA-E472-4D22-9C03-A9C14AA21CED}" type="datetime1">
              <a:rPr lang="en-US" smtClean="0"/>
              <a:t>1/23/2026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23026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E833E-1B6D-415F-AD29-75AE8C43BD0D}" type="datetime1">
              <a:rPr lang="en-US" smtClean="0"/>
              <a:t>1/23/2026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41586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2596F-08A7-4B70-989A-F2B1CF31E66B}" type="datetime1">
              <a:rPr lang="en-US" smtClean="0"/>
              <a:t>1/23/2026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4527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73ED0CC-082F-4160-86E5-0D6041F12778}" type="datetime1">
              <a:rPr lang="en-US" smtClean="0"/>
              <a:t>1/23/2026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980277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3" r:id="rId1"/>
    <p:sldLayoutId id="2147483715" r:id="rId2"/>
    <p:sldLayoutId id="2147483716" r:id="rId3"/>
    <p:sldLayoutId id="2147483714" r:id="rId4"/>
    <p:sldLayoutId id="2147483710" r:id="rId5"/>
    <p:sldLayoutId id="2147483694" r:id="rId6"/>
    <p:sldLayoutId id="2147483695" r:id="rId7"/>
    <p:sldLayoutId id="2147483696" r:id="rId8"/>
    <p:sldLayoutId id="2147483697" r:id="rId9"/>
    <p:sldLayoutId id="2147483699" r:id="rId10"/>
    <p:sldLayoutId id="2147483693" r:id="rId11"/>
    <p:sldLayoutId id="2147483700" r:id="rId12"/>
    <p:sldLayoutId id="2147483701" r:id="rId13"/>
    <p:sldLayoutId id="2147483703" r:id="rId14"/>
    <p:sldLayoutId id="2147483704" r:id="rId15"/>
    <p:sldLayoutId id="2147483702" r:id="rId16"/>
    <p:sldLayoutId id="2147483698" r:id="rId17"/>
  </p:sldLayoutIdLst>
  <p:hf sldNum="0" hdr="0" ftr="0" dt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cup, coffee, food, beverage&#10;&#10;Description automatically generated">
            <a:extLst>
              <a:ext uri="{FF2B5EF4-FFF2-40B4-BE49-F238E27FC236}">
                <a16:creationId xmlns:a16="http://schemas.microsoft.com/office/drawing/2014/main" id="{91BC5572-FC33-4C1C-8DEE-C2CF75A7564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0693" y="1087120"/>
            <a:ext cx="7942640" cy="1181947"/>
          </a:xfrm>
        </p:spPr>
        <p:txBody>
          <a:bodyPr>
            <a:noAutofit/>
          </a:bodyPr>
          <a:lstStyle/>
          <a:p>
            <a:r>
              <a:rPr lang="en-US" sz="3500" dirty="0"/>
              <a:t>Detecting comparisons between incompatible types</a:t>
            </a:r>
          </a:p>
        </p:txBody>
      </p:sp>
    </p:spTree>
    <p:extLst>
      <p:ext uri="{BB962C8B-B14F-4D97-AF65-F5344CB8AC3E}">
        <p14:creationId xmlns:p14="http://schemas.microsoft.com/office/powerpoint/2010/main" val="6337383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cup, coffee, food, beverage&#10;&#10;Description automatically generated">
            <a:extLst>
              <a:ext uri="{FF2B5EF4-FFF2-40B4-BE49-F238E27FC236}">
                <a16:creationId xmlns:a16="http://schemas.microsoft.com/office/drawing/2014/main" id="{91BC5572-FC33-4C1C-8DEE-C2CF75A7564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8248" y="714587"/>
            <a:ext cx="2941663" cy="617501"/>
          </a:xfrm>
        </p:spPr>
        <p:txBody>
          <a:bodyPr>
            <a:noAutofit/>
          </a:bodyPr>
          <a:lstStyle/>
          <a:p>
            <a:pPr algn="l"/>
            <a:r>
              <a:rPr lang="en-US" sz="40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66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365C814-5AC3-5476-FEEF-5E3ABF5169BC}"/>
              </a:ext>
            </a:extLst>
          </p:cNvPr>
          <p:cNvSpPr txBox="1">
            <a:spLocks/>
          </p:cNvSpPr>
          <p:nvPr/>
        </p:nvSpPr>
        <p:spPr>
          <a:xfrm>
            <a:off x="298248" y="1715912"/>
            <a:ext cx="11126108" cy="200942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Semantic analysis ensures the 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meaning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a program is correct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 checking is a core responsibility of semantic analysis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Comparisons must obey strict type compatibility rules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Invalid comparisons are semantic errors, not syntax errors</a:t>
            </a:r>
            <a:endParaRPr lang="en-US" sz="80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28910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cup, coffee, food, beverage&#10;&#10;Description automatically generated">
            <a:extLst>
              <a:ext uri="{FF2B5EF4-FFF2-40B4-BE49-F238E27FC236}">
                <a16:creationId xmlns:a16="http://schemas.microsoft.com/office/drawing/2014/main" id="{91BC5572-FC33-4C1C-8DEE-C2CF75A7564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8248" y="409785"/>
            <a:ext cx="3822196" cy="696525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definition</a:t>
            </a:r>
            <a:endParaRPr lang="en-US" sz="199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365C814-5AC3-5476-FEEF-5E3ABF5169BC}"/>
              </a:ext>
            </a:extLst>
          </p:cNvPr>
          <p:cNvSpPr txBox="1">
            <a:spLocks/>
          </p:cNvSpPr>
          <p:nvPr/>
        </p:nvSpPr>
        <p:spPr>
          <a:xfrm>
            <a:off x="575733" y="1715911"/>
            <a:ext cx="10566400" cy="3183466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dirty="0"/>
              <a:t>Comparison operators require compatible operand types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dirty="0"/>
              <a:t>Some data types cannot be meaningfully compared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dirty="0"/>
              <a:t>Example errors:</a:t>
            </a:r>
          </a:p>
          <a:p>
            <a:pPr algn="l"/>
            <a:r>
              <a:rPr lang="en-US" sz="3200" dirty="0"/>
              <a:t>				array &lt; int</a:t>
            </a:r>
          </a:p>
          <a:p>
            <a:pPr algn="l"/>
            <a:r>
              <a:rPr lang="en-US" sz="3200" dirty="0"/>
              <a:t>				pointer &lt; integer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dirty="0"/>
              <a:t>These errors must be detected before code generation</a:t>
            </a:r>
            <a:endParaRPr lang="en-US" sz="80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26439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cup, coffee, food, beverage&#10;&#10;Description automatically generated">
            <a:extLst>
              <a:ext uri="{FF2B5EF4-FFF2-40B4-BE49-F238E27FC236}">
                <a16:creationId xmlns:a16="http://schemas.microsoft.com/office/drawing/2014/main" id="{91BC5572-FC33-4C1C-8DEE-C2CF75A7564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8247" y="353341"/>
            <a:ext cx="6068685" cy="696526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Comparison operators</a:t>
            </a:r>
            <a:endParaRPr lang="en-US" sz="4000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365C814-5AC3-5476-FEEF-5E3ABF5169BC}"/>
              </a:ext>
            </a:extLst>
          </p:cNvPr>
          <p:cNvSpPr txBox="1">
            <a:spLocks/>
          </p:cNvSpPr>
          <p:nvPr/>
        </p:nvSpPr>
        <p:spPr>
          <a:xfrm>
            <a:off x="440267" y="3680177"/>
            <a:ext cx="10701866" cy="121919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endParaRPr lang="en-US" sz="44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376F90A-F61A-91E7-EE44-588C49C30CBB}"/>
              </a:ext>
            </a:extLst>
          </p:cNvPr>
          <p:cNvSpPr txBox="1"/>
          <p:nvPr/>
        </p:nvSpPr>
        <p:spPr>
          <a:xfrm>
            <a:off x="135467" y="1490133"/>
            <a:ext cx="11954933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Relational operators &gt;,&lt;,&lt;=,&gt;=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Equality operations ==,!=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Relational operators require 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ordered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types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Equality operators require 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compatible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types</a:t>
            </a:r>
          </a:p>
        </p:txBody>
      </p:sp>
    </p:spTree>
    <p:extLst>
      <p:ext uri="{BB962C8B-B14F-4D97-AF65-F5344CB8AC3E}">
        <p14:creationId xmlns:p14="http://schemas.microsoft.com/office/powerpoint/2010/main" val="31900709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cup, coffee, food, beverage&#10;&#10;Description automatically generated">
            <a:extLst>
              <a:ext uri="{FF2B5EF4-FFF2-40B4-BE49-F238E27FC236}">
                <a16:creationId xmlns:a16="http://schemas.microsoft.com/office/drawing/2014/main" id="{91BC5572-FC33-4C1C-8DEE-C2CF75A7564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8247" y="353341"/>
            <a:ext cx="6068685" cy="696526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 categories</a:t>
            </a:r>
            <a:endParaRPr lang="en-US" sz="4000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365C814-5AC3-5476-FEEF-5E3ABF5169BC}"/>
              </a:ext>
            </a:extLst>
          </p:cNvPr>
          <p:cNvSpPr txBox="1">
            <a:spLocks/>
          </p:cNvSpPr>
          <p:nvPr/>
        </p:nvSpPr>
        <p:spPr>
          <a:xfrm>
            <a:off x="440267" y="3680177"/>
            <a:ext cx="10701866" cy="121919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endParaRPr lang="en-US" sz="44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376F90A-F61A-91E7-EE44-588C49C30CBB}"/>
              </a:ext>
            </a:extLst>
          </p:cNvPr>
          <p:cNvSpPr txBox="1"/>
          <p:nvPr/>
        </p:nvSpPr>
        <p:spPr>
          <a:xfrm>
            <a:off x="389465" y="1618074"/>
            <a:ext cx="11954933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Primitive type int, float, char,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String,Double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Array type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Pointer type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Object/user-define</a:t>
            </a:r>
          </a:p>
        </p:txBody>
      </p:sp>
    </p:spTree>
    <p:extLst>
      <p:ext uri="{BB962C8B-B14F-4D97-AF65-F5344CB8AC3E}">
        <p14:creationId xmlns:p14="http://schemas.microsoft.com/office/powerpoint/2010/main" val="31340777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cup, coffee, food, beverage&#10;&#10;Description automatically generated">
            <a:extLst>
              <a:ext uri="{FF2B5EF4-FFF2-40B4-BE49-F238E27FC236}">
                <a16:creationId xmlns:a16="http://schemas.microsoft.com/office/drawing/2014/main" id="{91BC5572-FC33-4C1C-8DEE-C2CF75A7564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8247" y="353341"/>
            <a:ext cx="6068685" cy="696526"/>
          </a:xfrm>
        </p:spPr>
        <p:txBody>
          <a:bodyPr>
            <a:noAutofit/>
          </a:bodyPr>
          <a:lstStyle/>
          <a:p>
            <a:pPr algn="l"/>
            <a:r>
              <a:rPr lang="en-US" sz="32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Invalid comparisons</a:t>
            </a:r>
            <a:endParaRPr lang="en-US" sz="4000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365C814-5AC3-5476-FEEF-5E3ABF5169BC}"/>
              </a:ext>
            </a:extLst>
          </p:cNvPr>
          <p:cNvSpPr txBox="1">
            <a:spLocks/>
          </p:cNvSpPr>
          <p:nvPr/>
        </p:nvSpPr>
        <p:spPr>
          <a:xfrm>
            <a:off x="440267" y="3680177"/>
            <a:ext cx="10701866" cy="121919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endParaRPr lang="en-US" sz="44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376F90A-F61A-91E7-EE44-588C49C30CBB}"/>
              </a:ext>
            </a:extLst>
          </p:cNvPr>
          <p:cNvSpPr txBox="1"/>
          <p:nvPr/>
        </p:nvSpPr>
        <p:spPr>
          <a:xfrm>
            <a:off x="389465" y="1618074"/>
            <a:ext cx="11954933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array&lt;int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array==array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pointer &lt;non pointer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pointer == pointer</a:t>
            </a:r>
          </a:p>
        </p:txBody>
      </p:sp>
    </p:spTree>
    <p:extLst>
      <p:ext uri="{BB962C8B-B14F-4D97-AF65-F5344CB8AC3E}">
        <p14:creationId xmlns:p14="http://schemas.microsoft.com/office/powerpoint/2010/main" val="752460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cup, coffee, food, beverage&#10;&#10;Description automatically generated">
            <a:extLst>
              <a:ext uri="{FF2B5EF4-FFF2-40B4-BE49-F238E27FC236}">
                <a16:creationId xmlns:a16="http://schemas.microsoft.com/office/drawing/2014/main" id="{91BC5572-FC33-4C1C-8DEE-C2CF75A7564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8247" y="353341"/>
            <a:ext cx="6068685" cy="696526"/>
          </a:xfrm>
        </p:spPr>
        <p:txBody>
          <a:bodyPr>
            <a:noAutofit/>
          </a:bodyPr>
          <a:lstStyle/>
          <a:p>
            <a:pPr algn="l"/>
            <a:r>
              <a:rPr lang="en-US" sz="32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Important edge cases</a:t>
            </a:r>
            <a:endParaRPr lang="en-US" sz="4000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365C814-5AC3-5476-FEEF-5E3ABF5169BC}"/>
              </a:ext>
            </a:extLst>
          </p:cNvPr>
          <p:cNvSpPr txBox="1">
            <a:spLocks/>
          </p:cNvSpPr>
          <p:nvPr/>
        </p:nvSpPr>
        <p:spPr>
          <a:xfrm>
            <a:off x="440267" y="3680177"/>
            <a:ext cx="10701866" cy="121919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endParaRPr lang="en-US" sz="44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2D3EE667-C2A4-E7CC-3D4D-02D1BEB7F7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044" y="1543620"/>
            <a:ext cx="9008534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Comparing arrays by value instead of address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Pointer compared with integer literal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Pointer vs pointer with different base types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Null pointer comparisons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Implicit type coercion hiding semantic errors</a:t>
            </a:r>
          </a:p>
        </p:txBody>
      </p:sp>
    </p:spTree>
    <p:extLst>
      <p:ext uri="{BB962C8B-B14F-4D97-AF65-F5344CB8AC3E}">
        <p14:creationId xmlns:p14="http://schemas.microsoft.com/office/powerpoint/2010/main" val="6690112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cup, coffee, food, beverage&#10;&#10;Description automatically generated">
            <a:extLst>
              <a:ext uri="{FF2B5EF4-FFF2-40B4-BE49-F238E27FC236}">
                <a16:creationId xmlns:a16="http://schemas.microsoft.com/office/drawing/2014/main" id="{91BC5572-FC33-4C1C-8DEE-C2CF75A7564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8247" y="353341"/>
            <a:ext cx="6068685" cy="696526"/>
          </a:xfrm>
        </p:spPr>
        <p:txBody>
          <a:bodyPr>
            <a:noAutofit/>
          </a:bodyPr>
          <a:lstStyle/>
          <a:p>
            <a:pPr algn="l"/>
            <a:r>
              <a:rPr lang="en-US" sz="32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Attribute grammar approach</a:t>
            </a:r>
            <a:endParaRPr lang="en-US" sz="3333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365C814-5AC3-5476-FEEF-5E3ABF5169BC}"/>
              </a:ext>
            </a:extLst>
          </p:cNvPr>
          <p:cNvSpPr txBox="1">
            <a:spLocks/>
          </p:cNvSpPr>
          <p:nvPr/>
        </p:nvSpPr>
        <p:spPr>
          <a:xfrm>
            <a:off x="440267" y="3680177"/>
            <a:ext cx="10701866" cy="121919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endParaRPr lang="en-US" sz="44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B25402F3-7E8B-6F4F-D20E-48229D15D5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7021" y="1442707"/>
            <a:ext cx="10080977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Each expression node has a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type attribute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Types are synthesized bottom-up in the AST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Comparison node checks operand attributes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Semantic rules enforce type compatibility</a:t>
            </a:r>
          </a:p>
        </p:txBody>
      </p:sp>
    </p:spTree>
    <p:extLst>
      <p:ext uri="{BB962C8B-B14F-4D97-AF65-F5344CB8AC3E}">
        <p14:creationId xmlns:p14="http://schemas.microsoft.com/office/powerpoint/2010/main" val="8935772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cup, coffee, food, beverage&#10;&#10;Description automatically generated">
            <a:extLst>
              <a:ext uri="{FF2B5EF4-FFF2-40B4-BE49-F238E27FC236}">
                <a16:creationId xmlns:a16="http://schemas.microsoft.com/office/drawing/2014/main" id="{91BC5572-FC33-4C1C-8DEE-C2CF75A7564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8247" y="353341"/>
            <a:ext cx="6068685" cy="696526"/>
          </a:xfrm>
        </p:spPr>
        <p:txBody>
          <a:bodyPr>
            <a:noAutofit/>
          </a:bodyPr>
          <a:lstStyle/>
          <a:p>
            <a:pPr algn="l"/>
            <a:r>
              <a:rPr lang="en-US" sz="32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Ast-based detection</a:t>
            </a:r>
            <a:endParaRPr lang="en-US" sz="3333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365C814-5AC3-5476-FEEF-5E3ABF5169BC}"/>
              </a:ext>
            </a:extLst>
          </p:cNvPr>
          <p:cNvSpPr txBox="1">
            <a:spLocks/>
          </p:cNvSpPr>
          <p:nvPr/>
        </p:nvSpPr>
        <p:spPr>
          <a:xfrm>
            <a:off x="440267" y="3680177"/>
            <a:ext cx="10701866" cy="121919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endParaRPr lang="en-US" sz="44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FCF5558-4B84-E452-C484-4EA4872FB5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177" y="1618074"/>
            <a:ext cx="8324649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Comparison node has two child expressions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Child nodes propagate their type information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Semantic analyzer inspects both operand types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Invalid combinations produce semantic errors</a:t>
            </a:r>
          </a:p>
        </p:txBody>
      </p:sp>
    </p:spTree>
    <p:extLst>
      <p:ext uri="{BB962C8B-B14F-4D97-AF65-F5344CB8AC3E}">
        <p14:creationId xmlns:p14="http://schemas.microsoft.com/office/powerpoint/2010/main" val="5897911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cup, coffee, food, beverage&#10;&#10;Description automatically generated">
            <a:extLst>
              <a:ext uri="{FF2B5EF4-FFF2-40B4-BE49-F238E27FC236}">
                <a16:creationId xmlns:a16="http://schemas.microsoft.com/office/drawing/2014/main" id="{91BC5572-FC33-4C1C-8DEE-C2CF75A7564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8247" y="353341"/>
            <a:ext cx="6068685" cy="696526"/>
          </a:xfrm>
        </p:spPr>
        <p:txBody>
          <a:bodyPr>
            <a:noAutofit/>
          </a:bodyPr>
          <a:lstStyle/>
          <a:p>
            <a:pPr algn="l"/>
            <a:r>
              <a:rPr lang="en-US" sz="32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Semantic rules (formal)</a:t>
            </a:r>
            <a:endParaRPr lang="en-US" sz="3333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365C814-5AC3-5476-FEEF-5E3ABF5169BC}"/>
              </a:ext>
            </a:extLst>
          </p:cNvPr>
          <p:cNvSpPr txBox="1">
            <a:spLocks/>
          </p:cNvSpPr>
          <p:nvPr/>
        </p:nvSpPr>
        <p:spPr>
          <a:xfrm>
            <a:off x="440267" y="3680177"/>
            <a:ext cx="10701866" cy="121919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endParaRPr lang="en-US" sz="44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34A6C22-E7DF-3C7E-8B7D-8A1DF35599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067" y="1494323"/>
            <a:ext cx="8579537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Arrays cannot participate in comparisons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Relational operators require ordered scalar types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Pointer comparisons require compatible base types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Pointer and non-pointer comparisons are illegal</a:t>
            </a:r>
          </a:p>
        </p:txBody>
      </p:sp>
    </p:spTree>
    <p:extLst>
      <p:ext uri="{BB962C8B-B14F-4D97-AF65-F5344CB8AC3E}">
        <p14:creationId xmlns:p14="http://schemas.microsoft.com/office/powerpoint/2010/main" val="14870200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cup, coffee, food, beverage&#10;&#10;Description automatically generated">
            <a:extLst>
              <a:ext uri="{FF2B5EF4-FFF2-40B4-BE49-F238E27FC236}">
                <a16:creationId xmlns:a16="http://schemas.microsoft.com/office/drawing/2014/main" id="{91BC5572-FC33-4C1C-8DEE-C2CF75A7564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8247" y="353341"/>
            <a:ext cx="6068685" cy="696526"/>
          </a:xfrm>
        </p:spPr>
        <p:txBody>
          <a:bodyPr>
            <a:noAutofit/>
          </a:bodyPr>
          <a:lstStyle/>
          <a:p>
            <a:pPr algn="l"/>
            <a:r>
              <a:rPr lang="en-US" sz="32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Pseudocode</a:t>
            </a:r>
            <a:endParaRPr lang="en-US" sz="4000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365C814-5AC3-5476-FEEF-5E3ABF5169BC}"/>
              </a:ext>
            </a:extLst>
          </p:cNvPr>
          <p:cNvSpPr txBox="1">
            <a:spLocks/>
          </p:cNvSpPr>
          <p:nvPr/>
        </p:nvSpPr>
        <p:spPr>
          <a:xfrm>
            <a:off x="440267" y="3680177"/>
            <a:ext cx="10701866" cy="121919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endParaRPr lang="en-US" sz="44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95659C6F-2D6A-9FB9-21AA-BDE0A9A88A8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089" y="1403198"/>
            <a:ext cx="9017169" cy="4636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53682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cup, coffee, food, beverage&#10;&#10;Description automatically generated">
            <a:extLst>
              <a:ext uri="{FF2B5EF4-FFF2-40B4-BE49-F238E27FC236}">
                <a16:creationId xmlns:a16="http://schemas.microsoft.com/office/drawing/2014/main" id="{91BC5572-FC33-4C1C-8DEE-C2CF75A7564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8247" y="353341"/>
            <a:ext cx="6068685" cy="696526"/>
          </a:xfrm>
        </p:spPr>
        <p:txBody>
          <a:bodyPr>
            <a:noAutofit/>
          </a:bodyPr>
          <a:lstStyle/>
          <a:p>
            <a:pPr algn="l"/>
            <a:r>
              <a:rPr lang="en-US" sz="32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 example</a:t>
            </a:r>
            <a:endParaRPr lang="en-US" sz="4000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365C814-5AC3-5476-FEEF-5E3ABF5169BC}"/>
              </a:ext>
            </a:extLst>
          </p:cNvPr>
          <p:cNvSpPr txBox="1">
            <a:spLocks/>
          </p:cNvSpPr>
          <p:nvPr/>
        </p:nvSpPr>
        <p:spPr>
          <a:xfrm>
            <a:off x="440267" y="3680177"/>
            <a:ext cx="10701866" cy="121919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endParaRPr lang="en-US" sz="44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B0A0AC74-2C98-9656-6BCC-A0A154D33AE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579" y="1546578"/>
            <a:ext cx="10069463" cy="355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0620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cup, coffee, food, beverage&#10;&#10;Description automatically generated">
            <a:extLst>
              <a:ext uri="{FF2B5EF4-FFF2-40B4-BE49-F238E27FC236}">
                <a16:creationId xmlns:a16="http://schemas.microsoft.com/office/drawing/2014/main" id="{91BC5572-FC33-4C1C-8DEE-C2CF75A7564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36143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8247" y="353341"/>
            <a:ext cx="6068685" cy="696526"/>
          </a:xfrm>
        </p:spPr>
        <p:txBody>
          <a:bodyPr>
            <a:noAutofit/>
          </a:bodyPr>
          <a:lstStyle/>
          <a:p>
            <a:pPr algn="l"/>
            <a:r>
              <a:rPr lang="en-US" sz="32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Error reporting</a:t>
            </a:r>
            <a:endParaRPr lang="en-US" sz="4000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365C814-5AC3-5476-FEEF-5E3ABF5169BC}"/>
              </a:ext>
            </a:extLst>
          </p:cNvPr>
          <p:cNvSpPr txBox="1">
            <a:spLocks/>
          </p:cNvSpPr>
          <p:nvPr/>
        </p:nvSpPr>
        <p:spPr>
          <a:xfrm>
            <a:off x="440267" y="3680177"/>
            <a:ext cx="10701866" cy="121919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endParaRPr lang="en-US" sz="44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984F6A57-D7CF-8FE6-009D-10B6E1836A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267" y="1504517"/>
            <a:ext cx="7747213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Messages should be clear and human-readable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Errors reported with line and column numbers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Cannot compare array ‘A’ with integer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Helps programmers quickly locate and fix errors</a:t>
            </a:r>
          </a:p>
        </p:txBody>
      </p:sp>
    </p:spTree>
    <p:extLst>
      <p:ext uri="{BB962C8B-B14F-4D97-AF65-F5344CB8AC3E}">
        <p14:creationId xmlns:p14="http://schemas.microsoft.com/office/powerpoint/2010/main" val="41067349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cup, coffee, food, beverage&#10;&#10;Description automatically generated">
            <a:extLst>
              <a:ext uri="{FF2B5EF4-FFF2-40B4-BE49-F238E27FC236}">
                <a16:creationId xmlns:a16="http://schemas.microsoft.com/office/drawing/2014/main" id="{91BC5572-FC33-4C1C-8DEE-C2CF75A7564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8247" y="353341"/>
            <a:ext cx="6068685" cy="696526"/>
          </a:xfrm>
        </p:spPr>
        <p:txBody>
          <a:bodyPr>
            <a:noAutofit/>
          </a:bodyPr>
          <a:lstStyle/>
          <a:p>
            <a:pPr algn="l"/>
            <a:r>
              <a:rPr lang="en-US" sz="32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Role in compiler pipeline</a:t>
            </a:r>
            <a:endParaRPr lang="en-US" sz="4000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365C814-5AC3-5476-FEEF-5E3ABF5169BC}"/>
              </a:ext>
            </a:extLst>
          </p:cNvPr>
          <p:cNvSpPr txBox="1">
            <a:spLocks/>
          </p:cNvSpPr>
          <p:nvPr/>
        </p:nvSpPr>
        <p:spPr>
          <a:xfrm>
            <a:off x="440267" y="3680177"/>
            <a:ext cx="10701866" cy="121919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endParaRPr lang="en-US" sz="44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A77C3B87-23CE-4214-C790-08E3A88D4F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800" y="1791354"/>
            <a:ext cx="9064978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Executed after syntax analysis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Prevents invalid intermediate code generation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Improves optimization correctness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Ensures safe and correct target code</a:t>
            </a:r>
          </a:p>
        </p:txBody>
      </p:sp>
    </p:spTree>
    <p:extLst>
      <p:ext uri="{BB962C8B-B14F-4D97-AF65-F5344CB8AC3E}">
        <p14:creationId xmlns:p14="http://schemas.microsoft.com/office/powerpoint/2010/main" val="14683280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cup, coffee, food, beverage&#10;&#10;Description automatically generated">
            <a:extLst>
              <a:ext uri="{FF2B5EF4-FFF2-40B4-BE49-F238E27FC236}">
                <a16:creationId xmlns:a16="http://schemas.microsoft.com/office/drawing/2014/main" id="{91BC5572-FC33-4C1C-8DEE-C2CF75A7564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8247" y="353341"/>
            <a:ext cx="6068685" cy="696526"/>
          </a:xfrm>
        </p:spPr>
        <p:txBody>
          <a:bodyPr>
            <a:noAutofit/>
          </a:bodyPr>
          <a:lstStyle/>
          <a:p>
            <a:pPr algn="l"/>
            <a:r>
              <a:rPr lang="en-US" sz="32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sz="3333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365C814-5AC3-5476-FEEF-5E3ABF5169BC}"/>
              </a:ext>
            </a:extLst>
          </p:cNvPr>
          <p:cNvSpPr txBox="1">
            <a:spLocks/>
          </p:cNvSpPr>
          <p:nvPr/>
        </p:nvSpPr>
        <p:spPr>
          <a:xfrm>
            <a:off x="440267" y="3680177"/>
            <a:ext cx="10701866" cy="121919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endParaRPr lang="en-US" sz="44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0CEC88F-CAD5-E784-82EC-988D5D0C4A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7644" y="1657379"/>
            <a:ext cx="10126133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Invalid comparisons are semantic-level errors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Arrays and pointers require special handling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Attribute grammars and ASTs simplify detection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Early detection improves compiler robustness</a:t>
            </a:r>
          </a:p>
        </p:txBody>
      </p:sp>
    </p:spTree>
    <p:extLst>
      <p:ext uri="{BB962C8B-B14F-4D97-AF65-F5344CB8AC3E}">
        <p14:creationId xmlns:p14="http://schemas.microsoft.com/office/powerpoint/2010/main" val="33918459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cup, coffee, food, beverage&#10;&#10;Description automatically generated">
            <a:extLst>
              <a:ext uri="{FF2B5EF4-FFF2-40B4-BE49-F238E27FC236}">
                <a16:creationId xmlns:a16="http://schemas.microsoft.com/office/drawing/2014/main" id="{91BC5572-FC33-4C1C-8DEE-C2CF75A7564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rot="19703181">
            <a:off x="3626102" y="2915918"/>
            <a:ext cx="4330197" cy="685237"/>
          </a:xfrm>
        </p:spPr>
        <p:txBody>
          <a:bodyPr>
            <a:noAutofit/>
          </a:bodyPr>
          <a:lstStyle/>
          <a:p>
            <a:pPr algn="l"/>
            <a:r>
              <a:rPr lang="en-US" sz="72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Thanks</a:t>
            </a:r>
            <a:endParaRPr lang="en-US" sz="3333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365C814-5AC3-5476-FEEF-5E3ABF5169BC}"/>
              </a:ext>
            </a:extLst>
          </p:cNvPr>
          <p:cNvSpPr txBox="1">
            <a:spLocks/>
          </p:cNvSpPr>
          <p:nvPr/>
        </p:nvSpPr>
        <p:spPr>
          <a:xfrm>
            <a:off x="440267" y="3680177"/>
            <a:ext cx="10701866" cy="121919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endParaRPr lang="en-US" sz="44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96287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Coffee">
      <a:dk1>
        <a:sysClr val="windowText" lastClr="000000"/>
      </a:dk1>
      <a:lt1>
        <a:sysClr val="window" lastClr="FFFFFF"/>
      </a:lt1>
      <a:dk2>
        <a:srgbClr val="4E3B30"/>
      </a:dk2>
      <a:lt2>
        <a:srgbClr val="F4EEDC"/>
      </a:lt2>
      <a:accent1>
        <a:srgbClr val="CC830E"/>
      </a:accent1>
      <a:accent2>
        <a:srgbClr val="B54C2D"/>
      </a:accent2>
      <a:accent3>
        <a:srgbClr val="99570C"/>
      </a:accent3>
      <a:accent4>
        <a:srgbClr val="C17529"/>
      </a:accent4>
      <a:accent5>
        <a:srgbClr val="A19574"/>
      </a:accent5>
      <a:accent6>
        <a:srgbClr val="A49518"/>
      </a:accent6>
      <a:hlink>
        <a:srgbClr val="AD1F1F"/>
      </a:hlink>
      <a:folHlink>
        <a:srgbClr val="FFC42F"/>
      </a:folHlink>
    </a:clrScheme>
    <a:fontScheme name="Custom 4">
      <a:majorFont>
        <a:latin typeface="Goudy Old Style"/>
        <a:ea typeface=""/>
        <a:cs typeface=""/>
      </a:majorFont>
      <a:minorFont>
        <a:latin typeface="Goudy Old Style"/>
        <a:ea typeface=""/>
        <a:cs typeface="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REE.pptx" id="{E781C72B-3D65-4B8D-9071-33B66AF0EF30}" vid="{3A5A58F2-9BE1-435C-B12D-88FD9BF7017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{B3BB3C43-FA74-4C2E-9E11-48AAA3B904FD}TFe887d8cf-77a9-48cd-9a74-d8d08097a61c3993dec7_win32-329aa78f548b</Template>
  <TotalTime>43</TotalTime>
  <Words>327</Words>
  <Application>Microsoft Office PowerPoint</Application>
  <PresentationFormat>Widescreen</PresentationFormat>
  <Paragraphs>68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Goudy Old Style</vt:lpstr>
      <vt:lpstr>Times New Roman</vt:lpstr>
      <vt:lpstr>Wingdings 2</vt:lpstr>
      <vt:lpstr>SlateVTI</vt:lpstr>
      <vt:lpstr>Detecting comparisons between incompatible types</vt:lpstr>
      <vt:lpstr>Introduction</vt:lpstr>
      <vt:lpstr>Problem definition</vt:lpstr>
      <vt:lpstr>Comparison operators</vt:lpstr>
      <vt:lpstr>Type categories</vt:lpstr>
      <vt:lpstr>Invalid comparisons</vt:lpstr>
      <vt:lpstr>Important edge cases</vt:lpstr>
      <vt:lpstr>Attribute grammar approach</vt:lpstr>
      <vt:lpstr>Ast-based detection</vt:lpstr>
      <vt:lpstr>Semantic rules (formal)</vt:lpstr>
      <vt:lpstr>Pseudocode</vt:lpstr>
      <vt:lpstr>Java example</vt:lpstr>
      <vt:lpstr>Error reporting</vt:lpstr>
      <vt:lpstr>Role in compiler pipeline</vt:lpstr>
      <vt:lpstr>CONCLUSION</vt:lpstr>
      <vt:lpstr>Thanks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biruk yihun</dc:creator>
  <cp:lastModifiedBy>biruk yihun</cp:lastModifiedBy>
  <cp:revision>2</cp:revision>
  <dcterms:created xsi:type="dcterms:W3CDTF">2026-01-23T17:51:19Z</dcterms:created>
  <dcterms:modified xsi:type="dcterms:W3CDTF">2026-01-23T18:34:36Z</dcterms:modified>
</cp:coreProperties>
</file>