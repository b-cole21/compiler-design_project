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88D38747-4367-4BD2-8D51-C97E202738E2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483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11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AE507A8-A5CF-4D38-AB86-7EDDA87A85D4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855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723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55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220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957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931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106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040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8FF70A8-1D13-4657-95F0-A9EA54967B8D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694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1EB90AC-71BD-4C7F-8ACA-7B3F18292E63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5153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E6EFC2C-8905-46F0-B443-CE905B76BA01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77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901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042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048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452596F-08A7-4B70-989A-F2B1CF31E66B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122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ED0CC-082F-4160-86E5-0D6041F12778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7665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2588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404" y="615809"/>
            <a:ext cx="9308596" cy="933591"/>
          </a:xfrm>
        </p:spPr>
        <p:txBody>
          <a:bodyPr>
            <a:normAutofit/>
          </a:bodyPr>
          <a:lstStyle/>
          <a:p>
            <a:r>
              <a:rPr lang="en-US" b="1" dirty="0">
                <a:effectLst/>
                <a:latin typeface="Nyala" panose="020005040703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Compiler Design </a:t>
            </a:r>
            <a:endParaRPr lang="en-US" sz="287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6649" y="1549400"/>
            <a:ext cx="3714951" cy="791079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Assignment_1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D5F0672-F0FB-71F7-42A7-CB7F08E819B4}"/>
              </a:ext>
            </a:extLst>
          </p:cNvPr>
          <p:cNvSpPr txBox="1">
            <a:spLocks/>
          </p:cNvSpPr>
          <p:nvPr/>
        </p:nvSpPr>
        <p:spPr>
          <a:xfrm>
            <a:off x="1221215" y="3706138"/>
            <a:ext cx="2899230" cy="1093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FFFF00"/>
                </a:solidFill>
              </a:rPr>
              <a:t>Biruk yihun  </a:t>
            </a:r>
          </a:p>
          <a:p>
            <a:r>
              <a:rPr lang="en-US" sz="2800" dirty="0">
                <a:solidFill>
                  <a:srgbClr val="FFFF00"/>
                </a:solidFill>
              </a:rPr>
              <a:t>BDU1411222</a:t>
            </a: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8EEB50E0-5C8A-71F5-7303-CE3A3697BB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5545"/>
            <a:ext cx="12191980" cy="6857990"/>
          </a:xfrm>
          <a:prstGeom prst="rect">
            <a:avLst/>
          </a:prstGeom>
          <a:effectLst>
            <a:outerShdw blurRad="1270000" dist="50800" dir="4800000" sx="118000" sy="118000" algn="ctr" rotWithShape="0">
              <a:srgbClr val="000000">
                <a:alpha val="9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A26310-2DD2-3885-0699-B684B9290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764374"/>
            <a:ext cx="8610600" cy="1293028"/>
          </a:xfrm>
        </p:spPr>
        <p:txBody>
          <a:bodyPr>
            <a:normAutofit fontScale="90000"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sz="3600" b="1" dirty="0">
                <a:solidFill>
                  <a:srgbClr val="FFFF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Define shift-reduce parsing and give an example.</a:t>
            </a:r>
            <a:br>
              <a:rPr lang="en-US" sz="1800" b="1" dirty="0">
                <a:solidFill>
                  <a:srgbClr val="FFFF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US" b="1" dirty="0">
              <a:solidFill>
                <a:srgbClr val="FFFF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0DF96-81E8-F5CE-0723-745BA4C43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833" y="2218551"/>
            <a:ext cx="10964333" cy="1846862"/>
          </a:xfrm>
        </p:spPr>
        <p:txBody>
          <a:bodyPr/>
          <a:lstStyle/>
          <a:p>
            <a:r>
              <a:rPr lang="en-US" sz="24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Shift–Reduce Parsing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is a bottom-up parsing technique used in syntax analysis (typically in LR parsers). It attempts to construct a parse tree for an input string by starting from the input symbols and reducing them to the start symbol of the grammar.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73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4DCF853B-C160-969E-6205-FA84F19480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5545"/>
            <a:ext cx="12191980" cy="6857990"/>
          </a:xfrm>
          <a:prstGeom prst="rect">
            <a:avLst/>
          </a:prstGeom>
          <a:effectLst>
            <a:outerShdw blurRad="1270000" dist="50800" dir="4800000" sx="118000" sy="118000" algn="ctr" rotWithShape="0">
              <a:srgbClr val="000000">
                <a:alpha val="9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59A502-7B9B-6CD2-A06B-D46D06772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511" y="516017"/>
            <a:ext cx="8610600" cy="1293028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23336-53AE-C0D1-DACD-00B90C7C6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512" y="1648179"/>
            <a:ext cx="10865556" cy="391724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Shift–reduce parsing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works by repeatedly performing one of the following actions on a stack: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Shift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– Move the next input symbol onto the stack.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Reduce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– Replace a sequence of symbols on the top of the stack that matches the right-hand side of a production rule with the corresponding left-hand side nonterminal.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Accept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– Successful parsing when the start symbol remains on the stack and input is exhausted.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Error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– No valid action is possible.</a:t>
            </a:r>
          </a:p>
        </p:txBody>
      </p:sp>
    </p:spTree>
    <p:extLst>
      <p:ext uri="{BB962C8B-B14F-4D97-AF65-F5344CB8AC3E}">
        <p14:creationId xmlns:p14="http://schemas.microsoft.com/office/powerpoint/2010/main" val="1142213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1820640C-871B-B9A4-D8E4-A4107219C5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effectLst>
            <a:outerShdw blurRad="1270000" dist="50800" dir="4800000" sx="118000" sy="118000" algn="ctr" rotWithShape="0">
              <a:srgbClr val="000000">
                <a:alpha val="9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ABAF87-2E1D-9ABE-EBDD-70E1658F6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155" y="380551"/>
            <a:ext cx="8596489" cy="895093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  <a:endParaRPr lang="en-US" b="1" dirty="0">
              <a:solidFill>
                <a:srgbClr val="FFFF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B6F8A-2281-25D2-EB3A-875878467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155" y="1275644"/>
            <a:ext cx="11207045" cy="4943041"/>
          </a:xfrm>
        </p:spPr>
        <p:txBody>
          <a:bodyPr/>
          <a:lstStyle/>
          <a:p>
            <a:r>
              <a:rPr lang="en-US" dirty="0"/>
              <a:t>Consider the grammar:</a:t>
            </a:r>
          </a:p>
          <a:p>
            <a:pPr marL="0" indent="0">
              <a:buNone/>
            </a:pPr>
            <a:endParaRPr lang="en-US" dirty="0"/>
          </a:p>
          <a:p>
            <a:pPr marL="1371600" lvl="3" indent="0">
              <a:buNone/>
            </a:pPr>
            <a:r>
              <a:rPr lang="en-US" sz="2400" dirty="0"/>
              <a:t>S   → cmd obj</a:t>
            </a:r>
          </a:p>
          <a:p>
            <a:pPr marL="1371600" lvl="3" indent="0">
              <a:buNone/>
            </a:pPr>
            <a:r>
              <a:rPr lang="en-US" sz="2400" dirty="0"/>
              <a:t>cmd → open</a:t>
            </a:r>
          </a:p>
          <a:p>
            <a:pPr marL="1371600" lvl="3" indent="0">
              <a:buNone/>
            </a:pPr>
            <a:r>
              <a:rPr lang="en-US" sz="2400" dirty="0"/>
              <a:t>obj → file</a:t>
            </a:r>
          </a:p>
          <a:p>
            <a:pPr marL="1371600" lvl="3" indent="0">
              <a:buNone/>
            </a:pPr>
            <a:endParaRPr lang="en-US" sz="2400" dirty="0"/>
          </a:p>
          <a:p>
            <a:r>
              <a:rPr lang="en-US" dirty="0"/>
              <a:t>Input string</a:t>
            </a:r>
          </a:p>
          <a:p>
            <a:pPr marL="0" indent="0">
              <a:buNone/>
            </a:pPr>
            <a:endParaRPr lang="en-US" dirty="0"/>
          </a:p>
          <a:p>
            <a:pPr marL="1371600" lvl="3" indent="0">
              <a:buNone/>
            </a:pPr>
            <a:r>
              <a:rPr lang="en-US" sz="2800" dirty="0"/>
              <a:t>  </a:t>
            </a:r>
            <a:r>
              <a:rPr lang="en-US" sz="2400" dirty="0"/>
              <a:t>(open file)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437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24289141-0653-50B4-F9DD-7BF7E32DC5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effectLst>
            <a:outerShdw blurRad="1270000" dist="50800" dir="4800000" sx="118000" sy="118000" algn="ctr" rotWithShape="0">
              <a:srgbClr val="000000">
                <a:alpha val="9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676A90-7E37-B484-9F14-2A959F022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89" y="253997"/>
            <a:ext cx="8607778" cy="906382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Shift–Reduce Parsing Steps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F609A0-9134-1557-07DA-F0AF7CC856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9365903"/>
              </p:ext>
            </p:extLst>
          </p:nvPr>
        </p:nvGraphicFramePr>
        <p:xfrm>
          <a:off x="265289" y="1177316"/>
          <a:ext cx="11661423" cy="54266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7141">
                  <a:extLst>
                    <a:ext uri="{9D8B030D-6E8A-4147-A177-3AD203B41FA5}">
                      <a16:colId xmlns:a16="http://schemas.microsoft.com/office/drawing/2014/main" val="1466893195"/>
                    </a:ext>
                  </a:extLst>
                </a:gridCol>
                <a:gridCol w="3887141">
                  <a:extLst>
                    <a:ext uri="{9D8B030D-6E8A-4147-A177-3AD203B41FA5}">
                      <a16:colId xmlns:a16="http://schemas.microsoft.com/office/drawing/2014/main" val="2227418982"/>
                    </a:ext>
                  </a:extLst>
                </a:gridCol>
                <a:gridCol w="3887141">
                  <a:extLst>
                    <a:ext uri="{9D8B030D-6E8A-4147-A177-3AD203B41FA5}">
                      <a16:colId xmlns:a16="http://schemas.microsoft.com/office/drawing/2014/main" val="905127616"/>
                    </a:ext>
                  </a:extLst>
                </a:gridCol>
              </a:tblGrid>
              <a:tr h="775241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6970688"/>
                  </a:ext>
                </a:extLst>
              </a:tr>
              <a:tr h="775241"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open file 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i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Shift open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0522935"/>
                  </a:ext>
                </a:extLst>
              </a:tr>
              <a:tr h="775241"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$ open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file 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i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Reduce open → cmd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9231251"/>
                  </a:ext>
                </a:extLst>
              </a:tr>
              <a:tr h="775241"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$ cmd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file 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i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Shift file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7464295"/>
                  </a:ext>
                </a:extLst>
              </a:tr>
              <a:tr h="775241"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$ cmd 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i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i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Reduce file → obj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671984"/>
                  </a:ext>
                </a:extLst>
              </a:tr>
              <a:tr h="775241"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$ cmd obj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i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Reduce cmd obj → 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4645421"/>
                  </a:ext>
                </a:extLst>
              </a:tr>
              <a:tr h="775241">
                <a:tc>
                  <a:txBody>
                    <a:bodyPr/>
                    <a:lstStyle/>
                    <a:p>
                      <a:r>
                        <a:rPr lang="en-US" sz="2000" b="1" i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$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Accept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9767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5396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CFDC841-B333-2D98-9F22-C5228A30E8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5545"/>
            <a:ext cx="12191980" cy="6857990"/>
          </a:xfrm>
          <a:prstGeom prst="rect">
            <a:avLst/>
          </a:prstGeom>
          <a:effectLst>
            <a:outerShdw blurRad="1270000" dist="50800" dir="4800000" sx="118000" sy="118000" algn="ctr" rotWithShape="0">
              <a:srgbClr val="000000">
                <a:alpha val="9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420AB0-1F2D-B8DB-1556-2C378A175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660079"/>
            <a:ext cx="8699500" cy="10287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3600" b="1" cap="none" dirty="0">
                <a:solidFill>
                  <a:srgbClr val="FFFF00"/>
                </a:solidFill>
                <a:latin typeface="Arial" panose="020B0604020202020204" pitchFamily="34" charset="0"/>
              </a:rPr>
              <a:t>Explanation</a:t>
            </a:r>
            <a:br>
              <a:rPr lang="en-US" altLang="en-US" b="1" cap="none" dirty="0">
                <a:solidFill>
                  <a:srgbClr val="FFFF00"/>
                </a:solidFill>
                <a:latin typeface="Arial" panose="020B0604020202020204" pitchFamily="34" charset="0"/>
              </a:rPr>
            </a:b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8B4B6D-190F-0E47-EEE2-5D79F3A249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711" y="1593529"/>
            <a:ext cx="11960578" cy="3670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parser shift words (open , file ) from input to the stack</a:t>
            </a:r>
          </a:p>
          <a:p>
            <a:pPr marR="0" lvl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When symbol on the stack match a right side of a Grammer rule, 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    the parser reduces them.</a:t>
            </a:r>
          </a:p>
          <a:p>
            <a:pPr marR="0" lvl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Finally the stack symbol contain only the start symbol ,meaning     the input string is  valid or accepted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373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AAFE5C18-C62A-B3EA-D204-64C9C48BE7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effectLst>
            <a:outerShdw blurRad="1270000" dist="50800" dir="4800000" sx="118000" sy="118000" algn="ctr" rotWithShape="0">
              <a:srgbClr val="000000">
                <a:alpha val="9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024745-5BB3-4BC2-DD5F-A3B67A70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" y="0"/>
            <a:ext cx="10680700" cy="1293028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FFFF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2. Write a C++ program to count occurrences of '+' and '-' operators in an expression</a:t>
            </a:r>
            <a:endParaRPr lang="en-US" sz="4800" dirty="0">
              <a:solidFill>
                <a:srgbClr val="FFFF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17D46-7C01-1B76-27CE-D7FF9581C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00" y="1097280"/>
            <a:ext cx="10680700" cy="5760720"/>
          </a:xfrm>
        </p:spPr>
        <p:txBody>
          <a:bodyPr>
            <a:normAutofit/>
          </a:bodyPr>
          <a:lstStyle/>
          <a:p>
            <a:pPr marL="914400" lvl="2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#include&lt;iostream&gt;</a:t>
            </a:r>
          </a:p>
          <a:p>
            <a:pPr marL="914400" lvl="2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#include&lt;fstream&gt;</a:t>
            </a:r>
          </a:p>
          <a:p>
            <a:pPr marL="914400" lvl="2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#include&lt;string&gt;</a:t>
            </a:r>
          </a:p>
          <a:p>
            <a:pPr marL="914400" lvl="2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Using namespace std;</a:t>
            </a:r>
          </a:p>
          <a:p>
            <a:pPr marL="914400" lvl="2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//</a:t>
            </a:r>
            <a:r>
              <a:rPr lang="en-US" sz="2000" b="1" i="1" dirty="0">
                <a:latin typeface="Cambria" panose="02040503050406030204" pitchFamily="18" charset="0"/>
                <a:ea typeface="Cambria" panose="02040503050406030204" pitchFamily="18" charset="0"/>
              </a:rPr>
              <a:t>function to count ‘+’ and ‘-’</a:t>
            </a:r>
          </a:p>
          <a:p>
            <a:pPr marL="914400" lvl="2" indent="0">
              <a:buNone/>
            </a:pPr>
            <a:r>
              <a:rPr lang="en-US" sz="2000" dirty="0">
                <a:solidFill>
                  <a:srgbClr val="FF006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void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countoperator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sz="2000" dirty="0">
                <a:solidFill>
                  <a:srgbClr val="FF006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const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string&amp;  expr ,  </a:t>
            </a:r>
            <a:r>
              <a:rPr lang="en-US" sz="2000" dirty="0">
                <a:solidFill>
                  <a:srgbClr val="FF006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&amp; plusCount , </a:t>
            </a:r>
            <a:r>
              <a:rPr lang="en-US" sz="2000" dirty="0">
                <a:solidFill>
                  <a:srgbClr val="FF006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&amp; minusCount){</a:t>
            </a:r>
          </a:p>
          <a:p>
            <a:pPr marL="914400" lvl="2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plusCount = </a:t>
            </a:r>
            <a:r>
              <a:rPr lang="en-US" sz="2000" dirty="0">
                <a:solidFill>
                  <a:srgbClr val="FF006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</a:p>
          <a:p>
            <a:pPr marL="914400" lvl="2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minusCount = </a:t>
            </a:r>
            <a:r>
              <a:rPr lang="en-US" sz="2000" dirty="0">
                <a:solidFill>
                  <a:srgbClr val="FF006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</a:p>
          <a:p>
            <a:pPr marL="914400" lvl="2" indent="0">
              <a:buNone/>
            </a:pPr>
            <a:r>
              <a:rPr lang="en-US" sz="20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(char ch : expr) {</a:t>
            </a:r>
          </a:p>
          <a:p>
            <a:pPr marL="914400" lvl="2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US" sz="20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if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(ch == </a:t>
            </a:r>
            <a:r>
              <a:rPr lang="en-US" sz="20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‘ + ')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{</a:t>
            </a:r>
          </a:p>
          <a:p>
            <a:pPr marL="914400" lvl="2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    plusCount++;</a:t>
            </a:r>
          </a:p>
          <a:p>
            <a:pPr marL="914400" lvl="2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} </a:t>
            </a:r>
            <a:r>
              <a:rPr lang="en-US" sz="20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else if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(ch == </a:t>
            </a:r>
            <a:r>
              <a:rPr lang="en-US" sz="20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‘ - ')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{</a:t>
            </a:r>
          </a:p>
          <a:p>
            <a:pPr marL="914400" lvl="2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    minusCount++;</a:t>
            </a:r>
          </a:p>
          <a:p>
            <a:pPr marL="914400" lvl="2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}</a:t>
            </a:r>
          </a:p>
          <a:p>
            <a:pPr marL="914400" lvl="2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pPr marL="914400" lvl="2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3465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F34A444C-23C1-3599-2A8F-ADF8B4C36A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effectLst>
            <a:outerShdw blurRad="1270000" dist="50800" dir="4800000" sx="118000" sy="118000" algn="ctr" rotWithShape="0">
              <a:srgbClr val="000000">
                <a:alpha val="9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024745-5BB3-4BC2-DD5F-A3B67A70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" y="0"/>
            <a:ext cx="10680700" cy="77470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FFFF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Cont..</a:t>
            </a:r>
            <a:endParaRPr lang="en-US" sz="4800" dirty="0">
              <a:solidFill>
                <a:srgbClr val="FFFF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17D46-7C01-1B76-27CE-D7FF9581C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00" y="647700"/>
            <a:ext cx="12103080" cy="6210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006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main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( ){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ifstream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  inputFile(“Example.txt");</a:t>
            </a:r>
          </a:p>
          <a:p>
            <a:pPr marL="0" indent="0"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    string expression;</a:t>
            </a:r>
          </a:p>
          <a:p>
            <a:pPr marL="0" indent="0"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  plusCount, minusCount;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if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 (!inputFile) {</a:t>
            </a:r>
          </a:p>
          <a:p>
            <a:pPr marL="0" indent="0"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        cout &lt;&lt; </a:t>
            </a:r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"Error: Unable to open file."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&lt;&lt; endl;</a:t>
            </a:r>
          </a:p>
          <a:p>
            <a:pPr marL="0" indent="0"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US" sz="18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return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getline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(inputFile, Example);</a:t>
            </a:r>
          </a:p>
          <a:p>
            <a:pPr marL="0" indent="0"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    inputFile.</a:t>
            </a:r>
            <a:r>
              <a:rPr lang="en-US" sz="1800" b="1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close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();</a:t>
            </a:r>
          </a:p>
          <a:p>
            <a:pPr marL="0" indent="0">
              <a:buNone/>
            </a:pPr>
            <a:r>
              <a:rPr lang="en-US" sz="1800" b="1" dirty="0" err="1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countOperator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(Example, plusCount, minusCount);</a:t>
            </a:r>
          </a:p>
          <a:p>
            <a:pPr marL="0" indent="0"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    cout &lt;&lt; </a:t>
            </a:r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"Expression: "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&lt;&lt; expression &lt;&lt; endl;</a:t>
            </a:r>
          </a:p>
          <a:p>
            <a:pPr marL="0" indent="0"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    cout &lt;&lt; </a:t>
            </a:r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"Number of '+' operators: "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&lt;&lt; plusCount &lt;&lt; endl;</a:t>
            </a:r>
          </a:p>
          <a:p>
            <a:pPr marL="0" indent="0"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    cout &lt;&lt; </a:t>
            </a:r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"Number of '-' operators: "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&lt;&lt; minusCount &lt;&lt; endl;</a:t>
            </a:r>
          </a:p>
          <a:p>
            <a:pPr marL="0" indent="0"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US" sz="18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return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90533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CAC60B03-F1E2-E536-F79C-5FB06090858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effectLst>
            <a:outerShdw blurRad="1270000" dist="50800" dir="4800000" sx="118000" sy="118000" algn="ctr" rotWithShape="0">
              <a:srgbClr val="000000">
                <a:alpha val="9000"/>
              </a:srgb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5963B-97DC-B384-FA08-B2A712207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6100"/>
            <a:ext cx="12014200" cy="6159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Input file(</a:t>
            </a:r>
            <a:r>
              <a:rPr lang="en-US" sz="2000" b="1" kern="1200" dirty="0">
                <a:solidFill>
                  <a:srgbClr val="FFFFF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Example.txt)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	a+b-c+d-e+f</a:t>
            </a: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Output</a:t>
            </a:r>
          </a:p>
          <a:p>
            <a:pPr marL="914400" lvl="2" indent="0">
              <a:buNone/>
            </a:pPr>
            <a:r>
              <a:rPr lang="en-US" sz="2400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Expression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:  a+b-c+d-e+f</a:t>
            </a:r>
          </a:p>
          <a:p>
            <a:pPr marL="914400" lvl="2" indent="0">
              <a:buNone/>
            </a:pPr>
            <a:r>
              <a:rPr lang="en-US" sz="2400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Number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 of  </a:t>
            </a: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‘ + ’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solidFill>
                  <a:srgbClr val="FF006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operators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US" sz="2400" dirty="0">
                <a:solidFill>
                  <a:srgbClr val="FF006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3</a:t>
            </a:r>
          </a:p>
          <a:p>
            <a:pPr marL="914400" lvl="2" indent="0">
              <a:buNone/>
            </a:pPr>
            <a:r>
              <a:rPr lang="en-US" sz="2400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Number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 of  </a:t>
            </a: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‘ - ‘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solidFill>
                  <a:srgbClr val="FF006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operators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400" dirty="0">
                <a:solidFill>
                  <a:srgbClr val="FF006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Explanation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ifstream is used to read data from a file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function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countOperator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():</a:t>
            </a:r>
          </a:p>
          <a:p>
            <a:pPr lvl="2"/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      receives the expression</a:t>
            </a:r>
          </a:p>
          <a:p>
            <a:pPr lvl="2"/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      uses reference parameters to return the counts</a:t>
            </a:r>
          </a:p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59731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CC306A88-9D28-325E-1164-3B42A75D40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effectLst>
            <a:outerShdw blurRad="1270000" dist="50800" dir="4800000" sx="118000" sy="118000" algn="ctr" rotWithShape="0">
              <a:srgbClr val="000000">
                <a:alpha val="9000"/>
              </a:srgb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E60BD-C825-5527-43BA-55FB436A0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38760"/>
            <a:ext cx="5753100" cy="6619240"/>
          </a:xfrm>
        </p:spPr>
        <p:txBody>
          <a:bodyPr>
            <a:normAutofit fontScale="92500" lnSpcReduction="10000"/>
          </a:bodyPr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endParaRPr lang="en-US" sz="2400" dirty="0">
              <a:effectLst/>
              <a:latin typeface="Nyala" panose="02000504070300020003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2400" dirty="0">
                <a:effectLst/>
                <a:latin typeface="Nyala" panose="02000504070300020003" pitchFamily="2" charset="0"/>
                <a:ea typeface="Cambria" panose="02040503050406030204" pitchFamily="18" charset="0"/>
                <a:cs typeface="Times New Roman" panose="02020603050405020304" pitchFamily="18" charset="0"/>
              </a:rPr>
              <a:t>3. Grammar:</a:t>
            </a:r>
            <a:endParaRPr lang="en-US" sz="2400" dirty="0">
              <a:effectLst/>
              <a:latin typeface="Calibri" panose="020F050202020403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dirty="0">
                <a:effectLst/>
                <a:latin typeface="Nyala" panose="02000504070300020003" pitchFamily="2" charset="0"/>
                <a:ea typeface="Cambria" panose="02040503050406030204" pitchFamily="18" charset="0"/>
                <a:cs typeface="Courier New" panose="02070309020205020404" pitchFamily="49" charset="0"/>
              </a:rPr>
              <a:t>	S</a:t>
            </a:r>
            <a:r>
              <a:rPr lang="en-US" sz="24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>
                <a:effectLst/>
                <a:latin typeface="Nyala" panose="02000504070300020003" pitchFamily="2" charset="0"/>
                <a:ea typeface="Cambria" panose="02040503050406030204" pitchFamily="18" charset="0"/>
                <a:cs typeface="Courier New" panose="02070309020205020404" pitchFamily="49" charset="0"/>
              </a:rPr>
              <a:t>AB	</a:t>
            </a:r>
            <a:endParaRPr lang="en-US" sz="24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dirty="0">
                <a:effectLst/>
                <a:latin typeface="Nyala" panose="02000504070300020003" pitchFamily="2" charset="0"/>
                <a:ea typeface="Cambria" panose="02040503050406030204" pitchFamily="18" charset="0"/>
                <a:cs typeface="Courier New" panose="02070309020205020404" pitchFamily="49" charset="0"/>
              </a:rPr>
              <a:t>	A </a:t>
            </a:r>
            <a:r>
              <a:rPr lang="en-US" sz="24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>
                <a:effectLst/>
                <a:latin typeface="Nyala" panose="02000504070300020003" pitchFamily="2" charset="0"/>
                <a:ea typeface="Cambria" panose="02040503050406030204" pitchFamily="18" charset="0"/>
                <a:cs typeface="Courier New" panose="02070309020205020404" pitchFamily="49" charset="0"/>
              </a:rPr>
              <a:t> aA | </a:t>
            </a:r>
            <a:r>
              <a:rPr lang="en-US" sz="2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ε</a:t>
            </a:r>
            <a:endParaRPr lang="en-US" sz="2400" dirty="0">
              <a:effectLst/>
              <a:latin typeface="Calibri" panose="020F050202020403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dirty="0">
                <a:effectLst/>
                <a:latin typeface="Nyala" panose="02000504070300020003" pitchFamily="2" charset="0"/>
                <a:ea typeface="Cambria" panose="02040503050406030204" pitchFamily="18" charset="0"/>
                <a:cs typeface="Courier New" panose="02070309020205020404" pitchFamily="49" charset="0"/>
              </a:rPr>
              <a:t>	B </a:t>
            </a:r>
            <a:r>
              <a:rPr lang="en-US" sz="24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>
                <a:effectLst/>
                <a:latin typeface="Nyala" panose="02000504070300020003" pitchFamily="2" charset="0"/>
                <a:ea typeface="Cambria" panose="02040503050406030204" pitchFamily="18" charset="0"/>
                <a:cs typeface="Courier New" panose="02070309020205020404" pitchFamily="49" charset="0"/>
              </a:rPr>
              <a:t> bB | </a:t>
            </a:r>
            <a:r>
              <a:rPr lang="en-US" sz="2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ε</a:t>
            </a:r>
            <a:endParaRPr lang="en-US" sz="2400" dirty="0">
              <a:effectLst/>
              <a:latin typeface="Calibri" panose="020F050202020403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effectLst/>
                <a:latin typeface="Nyala" panose="02000504070300020003" pitchFamily="2" charset="0"/>
                <a:ea typeface="Cambria" panose="02040503050406030204" pitchFamily="18" charset="0"/>
                <a:cs typeface="Times New Roman" panose="02020603050405020304" pitchFamily="18" charset="0"/>
              </a:rPr>
              <a:t>Draw the </a:t>
            </a:r>
            <a:r>
              <a:rPr lang="en-US" sz="2400" b="1" dirty="0">
                <a:effectLst/>
                <a:latin typeface="Nyala" panose="02000504070300020003" pitchFamily="2" charset="0"/>
                <a:ea typeface="Cambria" panose="02040503050406030204" pitchFamily="18" charset="0"/>
                <a:cs typeface="Times New Roman" panose="02020603050405020304" pitchFamily="18" charset="0"/>
              </a:rPr>
              <a:t>parse tree</a:t>
            </a:r>
            <a:r>
              <a:rPr lang="en-US" sz="2400" dirty="0">
                <a:effectLst/>
                <a:latin typeface="Nyala" panose="02000504070300020003" pitchFamily="2" charset="0"/>
                <a:ea typeface="Cambria" panose="02040503050406030204" pitchFamily="18" charset="0"/>
                <a:cs typeface="Times New Roman" panose="02020603050405020304" pitchFamily="18" charset="0"/>
              </a:rPr>
              <a:t> for </a:t>
            </a:r>
            <a:r>
              <a:rPr lang="en-US" sz="2400" dirty="0">
                <a:effectLst/>
                <a:latin typeface="Nyala" panose="02000504070300020003" pitchFamily="2" charset="0"/>
                <a:ea typeface="Cambria" panose="02040503050406030204" pitchFamily="18" charset="0"/>
                <a:cs typeface="Courier New" panose="02070309020205020404" pitchFamily="49" charset="0"/>
              </a:rPr>
              <a:t>"aabb“</a:t>
            </a:r>
            <a:r>
              <a:rPr lang="en-US" sz="2400" dirty="0">
                <a:latin typeface="Nyala" panose="02000504070300020003" pitchFamily="2" charset="0"/>
                <a:ea typeface="Cambria" panose="02040503050406030204" pitchFamily="18" charset="0"/>
                <a:cs typeface="Times New Roman" panose="02020603050405020304" pitchFamily="18" charset="0"/>
              </a:rPr>
              <a:t>?</a:t>
            </a: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		S</a:t>
            </a: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		⇒ AB</a:t>
            </a: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		⇒ aA B</a:t>
            </a: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		⇒ aaA B</a:t>
            </a: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		⇒ aa </a:t>
            </a:r>
            <a:r>
              <a:rPr lang="el-GR" sz="2400" dirty="0">
                <a:effectLst/>
                <a:latin typeface="Calibri" panose="020F0502020204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ε </a:t>
            </a:r>
            <a:r>
              <a:rPr lang="en-US" sz="2400" dirty="0">
                <a:effectLst/>
                <a:latin typeface="Calibri" panose="020F0502020204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B</a:t>
            </a: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		⇒ aa B</a:t>
            </a: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		⇒ aa bB</a:t>
            </a: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		⇒ aa bbB</a:t>
            </a: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		⇒ aa bb </a:t>
            </a:r>
            <a:r>
              <a:rPr lang="el-GR" sz="2400" dirty="0">
                <a:effectLst/>
                <a:latin typeface="Calibri" panose="020F0502020204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ε</a:t>
            </a: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r>
              <a:rPr lang="el-GR" sz="2400" dirty="0">
                <a:effectLst/>
                <a:latin typeface="Calibri" panose="020F0502020204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⇒ </a:t>
            </a:r>
            <a:r>
              <a:rPr lang="en-US" sz="2400" dirty="0">
                <a:effectLst/>
                <a:latin typeface="Calibri" panose="020F0502020204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aabb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A71AEF2-42EC-6135-CA6B-7DF5CBF76554}"/>
              </a:ext>
            </a:extLst>
          </p:cNvPr>
          <p:cNvSpPr txBox="1">
            <a:spLocks/>
          </p:cNvSpPr>
          <p:nvPr/>
        </p:nvSpPr>
        <p:spPr>
          <a:xfrm>
            <a:off x="5778500" y="119380"/>
            <a:ext cx="6261100" cy="6619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rgbClr val="FFFF00"/>
                </a:solidFill>
              </a:rPr>
              <a:t>Leftmost Derivation</a:t>
            </a:r>
          </a:p>
          <a:p>
            <a:pPr marL="0" indent="0" algn="ctr">
              <a:buNone/>
            </a:pPr>
            <a:endParaRPr lang="en-US" dirty="0">
              <a:solidFill>
                <a:srgbClr val="FFFF00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rgbClr val="FFFF00"/>
              </a:solidFill>
            </a:endParaRPr>
          </a:p>
          <a:p>
            <a:pPr marL="1828800" lvl="4" indent="0">
              <a:buNone/>
            </a:pPr>
            <a:r>
              <a:rPr lang="pt-BR" dirty="0">
                <a:solidFill>
                  <a:srgbClr val="FF0066"/>
                </a:solidFill>
              </a:rPr>
              <a:t>          </a:t>
            </a:r>
            <a:r>
              <a:rPr lang="pt-BR" sz="2800" dirty="0">
                <a:solidFill>
                  <a:srgbClr val="FF0066"/>
                </a:solidFill>
              </a:rPr>
              <a:t>   S</a:t>
            </a:r>
          </a:p>
          <a:p>
            <a:pPr marL="1828800" lvl="4" indent="0">
              <a:buNone/>
            </a:pPr>
            <a:r>
              <a:rPr lang="pt-BR" sz="2800" dirty="0">
                <a:solidFill>
                  <a:srgbClr val="FF0066"/>
                </a:solidFill>
              </a:rPr>
              <a:t>       /  \</a:t>
            </a:r>
          </a:p>
          <a:p>
            <a:pPr marL="1828800" lvl="4" indent="0">
              <a:buNone/>
            </a:pPr>
            <a:r>
              <a:rPr lang="pt-BR" sz="2800" dirty="0">
                <a:solidFill>
                  <a:srgbClr val="FF0066"/>
                </a:solidFill>
              </a:rPr>
              <a:t>     A     B</a:t>
            </a:r>
          </a:p>
          <a:p>
            <a:pPr marL="1828800" lvl="4" indent="0">
              <a:buNone/>
            </a:pPr>
            <a:r>
              <a:rPr lang="pt-BR" sz="2800" dirty="0">
                <a:solidFill>
                  <a:srgbClr val="FF0066"/>
                </a:solidFill>
              </a:rPr>
              <a:t>    / \   / \</a:t>
            </a:r>
          </a:p>
          <a:p>
            <a:pPr marL="1828800" lvl="4" indent="0">
              <a:buNone/>
            </a:pPr>
            <a:r>
              <a:rPr lang="pt-BR" sz="2800" dirty="0">
                <a:solidFill>
                  <a:srgbClr val="FF0066"/>
                </a:solidFill>
              </a:rPr>
              <a:t>  a   A b   B</a:t>
            </a:r>
          </a:p>
          <a:p>
            <a:pPr marL="1828800" lvl="4" indent="0">
              <a:buNone/>
            </a:pPr>
            <a:r>
              <a:rPr lang="pt-BR" sz="2800" dirty="0">
                <a:solidFill>
                  <a:srgbClr val="FF0066"/>
                </a:solidFill>
              </a:rPr>
              <a:t>       / \    / \</a:t>
            </a:r>
          </a:p>
          <a:p>
            <a:pPr marL="1828800" lvl="4" indent="0">
              <a:buNone/>
            </a:pPr>
            <a:r>
              <a:rPr lang="pt-BR" sz="2800" dirty="0">
                <a:solidFill>
                  <a:srgbClr val="FF0066"/>
                </a:solidFill>
              </a:rPr>
              <a:t>     a   A b   B</a:t>
            </a:r>
          </a:p>
          <a:p>
            <a:pPr marL="1828800" lvl="4" indent="0">
              <a:buNone/>
            </a:pPr>
            <a:r>
              <a:rPr lang="pt-BR" sz="2800" dirty="0">
                <a:solidFill>
                  <a:srgbClr val="FF0066"/>
                </a:solidFill>
              </a:rPr>
              <a:t>           |      |</a:t>
            </a:r>
          </a:p>
          <a:p>
            <a:pPr marL="1828800" lvl="4" indent="0">
              <a:buNone/>
            </a:pPr>
            <a:r>
              <a:rPr lang="pt-BR" sz="2800" dirty="0">
                <a:solidFill>
                  <a:srgbClr val="FF0066"/>
                </a:solidFill>
              </a:rPr>
              <a:t>            ε      ε</a:t>
            </a:r>
            <a:endParaRPr lang="en-US" dirty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798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3F69DF92-2127-EE2C-E39B-3F4B3A4F6AA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effectLst>
            <a:outerShdw blurRad="1270000" dist="50800" dir="4800000" sx="118000" sy="118000" algn="ctr" rotWithShape="0">
              <a:srgbClr val="000000">
                <a:alpha val="9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88F9AA-CD19-1D75-B531-82C945C63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013" y="1910903"/>
            <a:ext cx="8610600" cy="1293028"/>
          </a:xfrm>
        </p:spPr>
        <p:txBody>
          <a:bodyPr/>
          <a:lstStyle/>
          <a:p>
            <a:pPr algn="ctr"/>
            <a:r>
              <a:rPr lang="en-US" dirty="0"/>
              <a:t>Thank you…</a:t>
            </a:r>
          </a:p>
        </p:txBody>
      </p:sp>
    </p:spTree>
    <p:extLst>
      <p:ext uri="{BB962C8B-B14F-4D97-AF65-F5344CB8AC3E}">
        <p14:creationId xmlns:p14="http://schemas.microsoft.com/office/powerpoint/2010/main" val="1837254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410</TotalTime>
  <Words>679</Words>
  <Application>Microsoft Office PowerPoint</Application>
  <PresentationFormat>Widescreen</PresentationFormat>
  <Paragraphs>125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Cambria</vt:lpstr>
      <vt:lpstr>Century Gothic</vt:lpstr>
      <vt:lpstr>Nyala</vt:lpstr>
      <vt:lpstr>Times New Roman</vt:lpstr>
      <vt:lpstr>Wingdings</vt:lpstr>
      <vt:lpstr>Vapor Trail</vt:lpstr>
      <vt:lpstr>Compiler Design </vt:lpstr>
      <vt:lpstr>Define shift-reduce parsing and give an example. </vt:lpstr>
      <vt:lpstr>Definition</vt:lpstr>
      <vt:lpstr>Example</vt:lpstr>
      <vt:lpstr>Shift–Reduce Parsing Steps</vt:lpstr>
      <vt:lpstr>Explanation </vt:lpstr>
      <vt:lpstr>2. Write a C++ program to count occurrences of '+' and '-' operators in an expression</vt:lpstr>
      <vt:lpstr>Cont..</vt:lpstr>
      <vt:lpstr>PowerPoint Presentation</vt:lpstr>
      <vt:lpstr>PowerPoint Presentation</vt:lpstr>
      <vt:lpstr>Thank you…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biruk yihun</dc:creator>
  <cp:lastModifiedBy>biruk yihun</cp:lastModifiedBy>
  <cp:revision>11</cp:revision>
  <dcterms:created xsi:type="dcterms:W3CDTF">2025-12-27T07:22:37Z</dcterms:created>
  <dcterms:modified xsi:type="dcterms:W3CDTF">2026-01-03T06:41:57Z</dcterms:modified>
</cp:coreProperties>
</file>